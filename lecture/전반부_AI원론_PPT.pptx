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685800"/>
            <a:ext cx="3657508" cy="411479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56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56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6" y="822959"/>
            <a:ext cx="2926006" cy="205739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Pretendard"/>
              </a:rPr>
              <a:t>회계사 AI 원론 ·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01" y="13716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01" y="1920240"/>
            <a:ext cx="10728691" cy="48006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두 개의 30분으로 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3017520"/>
            <a:ext cx="4998595" cy="205740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8755" bIns="98755"/>
          <a:lstStyle/>
          <a:p>
            <a:pPr algn="l"/>
            <a:r>
              <a:rPr sz="1300" b="1" i="0">
                <a:solidFill>
                  <a:srgbClr val="4A4A4A"/>
                </a:solidFill>
                <a:latin typeface="Pretendard"/>
              </a:rPr>
              <a:t>전반부 30분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개념 PPT</a:t>
            </a:r>
          </a:p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왜 틀리는지 · 어떻게 쓰는지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30096" y="4046220"/>
            <a:ext cx="731502" cy="0"/>
          </a:xfrm>
          <a:prstGeom prst="line">
            <a:avLst/>
          </a:prstGeom>
          <a:ln w="25400">
            <a:solidFill>
              <a:srgbClr val="FF4D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61598" y="3017520"/>
            <a:ext cx="4998595" cy="2057400"/>
          </a:xfrm>
          <a:prstGeom prst="rect">
            <a:avLst/>
          </a:prstGeom>
          <a:noFill/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8755" bIns="98755"/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후반부 30분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Claude Code 라이브</a:t>
            </a:r>
          </a:p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직접 도구를 켜서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5486400"/>
            <a:ext cx="10728691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그리고 뒤이어 1시간 — 완성된 회계 감사 시스템 실연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" y="6377940"/>
            <a:ext cx="3657508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00 / 17   ·   표지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1097280"/>
            <a:ext cx="8534186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LEARNING OBJECTIVE · 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920240"/>
            <a:ext cx="10728691" cy="30175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Pretendard"/>
              </a:rPr>
              <a:t>오늘이 끝나면, 업무지시서 한 장(</a:t>
            </a:r>
            <a:r>
              <a:rPr sz="2200" b="1" i="0">
                <a:solidFill>
                  <a:srgbClr val="FF4D30"/>
                </a:solidFill>
                <a:latin typeface="Pretendard"/>
              </a:rPr>
              <a:t>CLAUDE.md</a:t>
            </a:r>
            <a:r>
              <a:rPr sz="2200" b="0" i="0">
                <a:solidFill>
                  <a:srgbClr val="1A1A1A"/>
                </a:solidFill>
                <a:latin typeface="Pretendard"/>
              </a:rPr>
              <a:t>)을 직접 써서 AI가 내 기준·내 말투로 답하게 만들어 볼 수 있습니다.</a:t>
            </a:r>
          </a:p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4D30"/>
                </a:solidFill>
                <a:latin typeface="Pretendard"/>
              </a:rPr>
              <a:t>약 46%</a:t>
            </a:r>
            <a:r>
              <a:rPr sz="2200" b="0" i="0">
                <a:solidFill>
                  <a:srgbClr val="4A4A4A"/>
                </a:solidFill>
                <a:latin typeface="Pretendard"/>
              </a:rPr>
              <a:t>   의 회계사가 매일 AI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589788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출처: FindSkill.ai 2026 (업계 설문 기준, 공식 통계 아님)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OBJECTIVE · STAT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02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오프닝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1097280"/>
            <a:ext cx="8534186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920240"/>
            <a:ext cx="10728691" cy="30175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Pretendard"/>
              </a:rPr>
              <a:t>AI는 언어는 잘하지만, </a:t>
            </a:r>
            <a:r>
              <a:rPr sz="2200" b="1" i="0">
                <a:solidFill>
                  <a:srgbClr val="FF4D30"/>
                </a:solidFill>
                <a:latin typeface="Pretendard"/>
              </a:rPr>
              <a:t>말로만</a:t>
            </a:r>
            <a:r>
              <a:rPr sz="2200" b="0" i="0">
                <a:solidFill>
                  <a:srgbClr val="1A1A1A"/>
                </a:solidFill>
                <a:latin typeface="Pretendard"/>
              </a:rPr>
              <a:t> 숫자와 사실을 꺼내면 틀린다.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Pretendard"/>
              </a:rPr>
              <a:t>그래서 숫자는 계산기(코드)에, 사실은 검색(RAG)에 맡기고,</a:t>
            </a:r>
          </a:p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1A1A1A"/>
                </a:solidFill>
                <a:latin typeface="Pretendard"/>
              </a:rPr>
              <a:t>최종 판단·서명은 회계사가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589788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이 한 줄이 1시간의 중심축입니다.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THE THESIS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03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오프닝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발전사 4단계 — 지금은 3단계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9776" y="2880360"/>
            <a:ext cx="7132142" cy="0"/>
          </a:xfrm>
          <a:prstGeom prst="line">
            <a:avLst/>
          </a:prstGeom>
          <a:ln w="190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284537" y="2880360"/>
            <a:ext cx="2377381" cy="0"/>
          </a:xfrm>
          <a:prstGeom prst="line">
            <a:avLst/>
          </a:prstGeom>
          <a:ln w="31750">
            <a:solidFill>
              <a:srgbClr val="FF4D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164025" y="2674620"/>
            <a:ext cx="731501" cy="4114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1600" b="1" i="0">
                <a:solidFill>
                  <a:srgbClr val="6B7280"/>
                </a:solidFill>
                <a:latin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607" y="3223260"/>
            <a:ext cx="2438339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Pretendard"/>
              </a:rPr>
              <a:t>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607" y="3566160"/>
            <a:ext cx="2438339" cy="9601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엑셀 매크로·VLOOKUP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사람이 짠 규칙대로</a:t>
            </a:r>
          </a:p>
        </p:txBody>
      </p:sp>
      <p:sp>
        <p:nvSpPr>
          <p:cNvPr id="8" name="Oval 7"/>
          <p:cNvSpPr/>
          <p:nvPr/>
        </p:nvSpPr>
        <p:spPr>
          <a:xfrm>
            <a:off x="4541406" y="2674620"/>
            <a:ext cx="731501" cy="4114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1600" b="1" i="0">
                <a:solidFill>
                  <a:srgbClr val="6B7280"/>
                </a:solidFill>
                <a:latin typeface="Pretendar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7987" y="3223260"/>
            <a:ext cx="2438339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Pretendard"/>
              </a:rPr>
              <a:t>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7987" y="3566160"/>
            <a:ext cx="2438339" cy="9601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통계·머신러닝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데이터에서 패턴</a:t>
            </a:r>
          </a:p>
        </p:txBody>
      </p:sp>
      <p:sp>
        <p:nvSpPr>
          <p:cNvPr id="11" name="Oval 10"/>
          <p:cNvSpPr/>
          <p:nvPr/>
        </p:nvSpPr>
        <p:spPr>
          <a:xfrm>
            <a:off x="6918787" y="2674620"/>
            <a:ext cx="731501" cy="411479"/>
          </a:xfrm>
          <a:prstGeom prst="ellipse">
            <a:avLst/>
          </a:prstGeom>
          <a:solidFill>
            <a:srgbClr val="FF4D30"/>
          </a:solidFill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1600" b="1" i="0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368" y="3223260"/>
            <a:ext cx="2438339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300" b="1" i="0">
                <a:solidFill>
                  <a:srgbClr val="FF4D30"/>
                </a:solidFill>
                <a:latin typeface="Pretendard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5368" y="3566160"/>
            <a:ext cx="2438339" cy="9601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ChatGPT·Claude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말 이어가는 두뇌 (지금)</a:t>
            </a:r>
          </a:p>
        </p:txBody>
      </p:sp>
      <p:sp>
        <p:nvSpPr>
          <p:cNvPr id="14" name="Oval 13"/>
          <p:cNvSpPr/>
          <p:nvPr/>
        </p:nvSpPr>
        <p:spPr>
          <a:xfrm>
            <a:off x="9296167" y="2674620"/>
            <a:ext cx="731501" cy="4114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1600" b="1" i="0">
                <a:solidFill>
                  <a:srgbClr val="6B7280"/>
                </a:solidFill>
                <a:latin typeface="Pretendar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748" y="3223260"/>
            <a:ext cx="2438339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Pretendard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748" y="3566160"/>
            <a:ext cx="2438339" cy="9601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에이전트·AX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4A4A4A"/>
                </a:solidFill>
                <a:latin typeface="Pretendard"/>
              </a:rPr>
              <a:t>도구 달아 맡긴다 (다음)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" y="5623559"/>
            <a:ext cx="10728691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Pretendard"/>
              </a:rPr>
              <a:t>에이전트는 새 두뇌가 아니라 3단계 위의 응용 단계  ·  트랜스포머·파라미터 언급 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EVOLUTION · 4 STAGES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04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프롤로그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01" y="480060"/>
            <a:ext cx="10728691" cy="342900"/>
          </a:xfrm>
          <a:prstGeom prst="rect">
            <a:avLst/>
          </a:prstGeom>
          <a:solidFill>
            <a:srgbClr val="FF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400" b="0" i="0">
                <a:solidFill>
                  <a:srgbClr val="1A1A1A"/>
                </a:solidFill>
                <a:latin typeface="Pretendard"/>
              </a:rPr>
              <a:t>AI는 언어는 잘하지만, 말로만 숫자·사실을 꺼내면 틀린다 → 숫자는 계산기·사실은 검색·판단·서명은 회계사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2316422" y="2125980"/>
            <a:ext cx="3779425" cy="96012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2316422" y="3086100"/>
            <a:ext cx="3779425" cy="130302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095847" y="2125980"/>
            <a:ext cx="3779426" cy="960120"/>
          </a:xfrm>
          <a:prstGeom prst="line">
            <a:avLst/>
          </a:prstGeom>
          <a:ln w="127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3086100"/>
            <a:ext cx="0" cy="233172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3086100"/>
            <a:ext cx="3779426" cy="130302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998595" y="2468879"/>
            <a:ext cx="2194505" cy="1234439"/>
          </a:xfrm>
          <a:prstGeom prst="ellipse">
            <a:avLst/>
          </a:prstGeom>
          <a:noFill/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2200" b="1" i="0">
                <a:solidFill>
                  <a:srgbClr val="FF4D30"/>
                </a:solidFill>
                <a:latin typeface="Pretendard"/>
              </a:rPr>
              <a:t>LLM</a:t>
            </a:r>
          </a:p>
          <a:p>
            <a:pPr algn="ctr"/>
            <a:r>
              <a:rPr sz="1100" b="0" i="0">
                <a:solidFill>
                  <a:srgbClr val="4A4A4A"/>
                </a:solidFill>
                <a:latin typeface="Pretendard"/>
              </a:rPr>
              <a:t>언어는 잘하는 두뇌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35" y="1645919"/>
            <a:ext cx="2682172" cy="96012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RAG</a:t>
            </a:r>
          </a:p>
          <a:p>
            <a:pPr algn="l"/>
            <a:r>
              <a:rPr sz="1400" b="0" i="0">
                <a:solidFill>
                  <a:srgbClr val="4A4A4A"/>
                </a:solidFill>
                <a:latin typeface="Pretendard"/>
              </a:rPr>
              <a:t>사실은 검색에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조문·예규·판례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35" y="3909059"/>
            <a:ext cx="2682172" cy="96012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코드·계산기</a:t>
            </a:r>
          </a:p>
          <a:p>
            <a:pPr algn="l"/>
            <a:r>
              <a:rPr sz="1400" b="0" i="0">
                <a:solidFill>
                  <a:srgbClr val="4A4A4A"/>
                </a:solidFill>
                <a:latin typeface="Pretendard"/>
              </a:rPr>
              <a:t>숫자는 계산기에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환각 안 터짐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4186" y="1645919"/>
            <a:ext cx="2682172" cy="960120"/>
          </a:xfrm>
          <a:prstGeom prst="rect">
            <a:avLst/>
          </a:prstGeom>
          <a:solidFill>
            <a:srgbClr val="FBEEE9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C2410C"/>
                </a:solidFill>
                <a:latin typeface="Pretendard"/>
              </a:rPr>
              <a:t>환각</a:t>
            </a:r>
          </a:p>
          <a:p>
            <a:pPr algn="l"/>
            <a:r>
              <a:rPr sz="1400" b="0" i="0">
                <a:solidFill>
                  <a:srgbClr val="C2410C"/>
                </a:solidFill>
                <a:latin typeface="Pretendard"/>
              </a:rPr>
              <a:t>말로만 틀린다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조용한 실수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259" y="5006340"/>
            <a:ext cx="4145176" cy="822959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하네스 — 실행틀 + 고삐 2개</a:t>
            </a:r>
          </a:p>
          <a:p>
            <a:pPr algn="l"/>
            <a:r>
              <a:rPr sz="1100" b="0" i="0">
                <a:solidFill>
                  <a:srgbClr val="4A4A4A"/>
                </a:solidFill>
                <a:latin typeface="Pretendard"/>
              </a:rPr>
              <a:t>① CLAUDE.md   ② Skill   (뒤 30분 제작)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186" y="3909059"/>
            <a:ext cx="2682172" cy="96012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에이전트·AX</a:t>
            </a:r>
          </a:p>
          <a:p>
            <a:pPr algn="l"/>
            <a:r>
              <a:rPr sz="1400" b="0" i="0">
                <a:solidFill>
                  <a:srgbClr val="4A4A4A"/>
                </a:solidFill>
                <a:latin typeface="Pretendard"/>
              </a:rPr>
              <a:t>끝까지 맡긴다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01" y="603504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비유 — 회계사무소 보조 인력: 말 잘하는 비서(LLM) · 자료 펼쳐주는 손(RAG) · 결정적 계산기(코드) · 근태·결재 위 업무지시서·절차매뉴얼(하네스) · 심부름꾼(에이전트)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PROLOGUE · BIG PICTURE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05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프롤로그·큰 그림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AI가 잘 하는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2057400"/>
            <a:ext cx="3413674" cy="342900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8755" bIns="98755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2263140"/>
            <a:ext cx="3291757" cy="3017520"/>
          </a:xfrm>
          <a:prstGeom prst="rect">
            <a:avLst/>
          </a:prstGeom>
          <a:noFill/>
        </p:spPr>
        <p:txBody>
          <a:bodyPr wrap="square" lIns="164592" rIns="164592" tIns="98755" bIns="98755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F4D30"/>
                </a:solidFill>
                <a:latin typeface="Pretendard"/>
              </a:rPr>
              <a:t>①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A1A"/>
                </a:solidFill>
                <a:latin typeface="Pretendard"/>
              </a:rPr>
              <a:t>분개장 요약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긴 분개장을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3줄 핵심로 압축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010" y="2057400"/>
            <a:ext cx="3413674" cy="342900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8755" bIns="98755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010" y="2263140"/>
            <a:ext cx="3291757" cy="3017520"/>
          </a:xfrm>
          <a:prstGeom prst="rect">
            <a:avLst/>
          </a:prstGeom>
          <a:noFill/>
        </p:spPr>
        <p:txBody>
          <a:bodyPr wrap="square" lIns="164592" rIns="164592" tIns="98755" bIns="98755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F4D30"/>
                </a:solidFill>
                <a:latin typeface="Pretendard"/>
              </a:rPr>
              <a:t>②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A1A"/>
                </a:solidFill>
                <a:latin typeface="Pretendard"/>
              </a:rPr>
              <a:t>긴 메일·회의록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핵심만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3줄로 압축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518" y="2057400"/>
            <a:ext cx="3413674" cy="342900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8755" bIns="98755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518" y="2263140"/>
            <a:ext cx="3291757" cy="3017520"/>
          </a:xfrm>
          <a:prstGeom prst="rect">
            <a:avLst/>
          </a:prstGeom>
          <a:noFill/>
        </p:spPr>
        <p:txBody>
          <a:bodyPr wrap="square" lIns="164592" rIns="164592" tIns="98755" bIns="98755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F4D30"/>
                </a:solidFill>
                <a:latin typeface="Pretendard"/>
              </a:rPr>
              <a:t>③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A1A"/>
                </a:solidFill>
                <a:latin typeface="Pretendard"/>
              </a:rPr>
              <a:t>조서 초안 골격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빈 템플릿을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항목별로 채운 초안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589788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Pretendard"/>
              </a:rPr>
              <a:t>언어를 다루는 일 — 정말 빠르고 쓸모 있습니다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M1 · PRINCIPLE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06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M1 원리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환각(캡처 A) — 조용한 환각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2918" bIns="3291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</p:spPr>
        <p:txBody>
          <a:bodyPr wrap="square" lIns="54864" rIns="54864" tIns="32918" bIns="32918" anchor="ctr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〔 캡처 이미지 삽입 예정 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684" y="1645919"/>
            <a:ext cx="3657508" cy="384048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실존 조문(조세특례제한법 §7)인데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2410C"/>
                </a:solidFill>
                <a:latin typeface="Pretendard"/>
              </a:rPr>
              <a:t>감면율·조문번호 미세 왜곡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얼핏 맞아 보여 더 위험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4D30"/>
                </a:solidFill>
                <a:latin typeface="Pretendard"/>
              </a:rPr>
              <a:t>뒤 30분에 Claude Code로 라이브 재현·정정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확률적으로 찍는 것이 아님 — 가장 자연스러운 답을 고를 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B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400" b="1" i="0">
                <a:solidFill>
                  <a:srgbClr val="C2410C"/>
                </a:solidFill>
                <a:latin typeface="Pretendard"/>
              </a:rPr>
              <a:t>※ 의도적으로 유발한 환각 예시(강사 제작 캡처). 환각은 재현이 안 돼 미리 캡처.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M1 · HALLUCINATION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07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M1 원리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환각(캡처 B) — 결정타: 감면누락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2918" bIns="3291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</p:spPr>
        <p:txBody>
          <a:bodyPr wrap="square" lIns="54864" rIns="54864" tIns="32918" bIns="32918" anchor="ctr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〔 캡처 이미지 삽입 예정 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684" y="1645919"/>
            <a:ext cx="3657508" cy="384048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§7 감면을 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2410C"/>
                </a:solidFill>
                <a:latin typeface="Pretendard"/>
              </a:rPr>
              <a:t>“2025.12.31. 종료·폐지”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로 왜곡 (실제 2028.12.31. 연장)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Pretendard"/>
              </a:rPr>
              <a:t>납세자 감면 안내에 실렸다면?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2410C"/>
                </a:solidFill>
                <a:latin typeface="Pretendard"/>
              </a:rPr>
              <a:t>→ 받을 혜택 누락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B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400" b="1" i="0">
                <a:solidFill>
                  <a:srgbClr val="C2410C"/>
                </a:solidFill>
                <a:latin typeface="Pretendard"/>
              </a:rPr>
              <a:t>※ 의도적 왜곡 예시. 조문 수치는 law.go.kr 사전 검증 필수(정직성 세이프가드).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M1 · HALLUCINATION 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08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M1 원리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왜 틀리는지 —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결정적 계산기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늘 같은 답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1+1=2, 누적과세구간 합산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로컬 코드 — 밖으로 안 나감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68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‘가장 자연스러운’ 답을 고른다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2410C"/>
                </a:solidFill>
                <a:latin typeface="Pretendard"/>
              </a:rPr>
              <a:t>→ 정답과 다를 때가 환각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‘확률적으로 찍는다’가 아님 (금지 표현)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4889" y="1645919"/>
            <a:ext cx="0" cy="4114801"/>
          </a:xfrm>
          <a:prstGeom prst="line">
            <a:avLst/>
          </a:prstGeom>
          <a:ln w="12700">
            <a:solidFill>
              <a:srgbClr val="E5E5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F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4D30"/>
                </a:solidFill>
                <a:latin typeface="Pretendard"/>
              </a:rPr>
              <a:t>데이터를 정규화해 결정적 분석 → 그게 뒤 1시간의 뼈대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M1 · PRINCIPLE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09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M1 원리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물어보는 법이 결과를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645919"/>
            <a:ext cx="1072869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Pretendard"/>
              </a:rPr>
              <a:t>기본 4요소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01" y="1988819"/>
            <a:ext cx="2499297" cy="82295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FF4D30"/>
                </a:solidFill>
                <a:latin typeface="Pretendard"/>
              </a:rPr>
              <a:t>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633" y="1988819"/>
            <a:ext cx="2499297" cy="82295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FF4D30"/>
                </a:solidFill>
                <a:latin typeface="Pretendard"/>
              </a:rPr>
              <a:t>맥락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764" y="1988819"/>
            <a:ext cx="2499297" cy="82295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FF4D30"/>
                </a:solidFill>
                <a:latin typeface="Pretendard"/>
              </a:rPr>
              <a:t>지시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0895" y="1988819"/>
            <a:ext cx="2499297" cy="82295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FF4D30"/>
                </a:solidFill>
                <a:latin typeface="Pretendard"/>
              </a:rPr>
              <a:t>형식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3566160"/>
            <a:ext cx="1072869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Pretendard"/>
              </a:rPr>
              <a:t>강화 3가지 (이 중 하나만 붙여도 결과가 다릅니다)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01" y="3909059"/>
            <a:ext cx="3413674" cy="822959"/>
          </a:xfrm>
          <a:prstGeom prst="round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C2410C"/>
                </a:solidFill>
                <a:latin typeface="Pretendard"/>
              </a:rPr>
              <a:t>예시(few-shot)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010" y="3909059"/>
            <a:ext cx="3413674" cy="822959"/>
          </a:xfrm>
          <a:prstGeom prst="round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C2410C"/>
                </a:solidFill>
                <a:latin typeface="Pretendard"/>
              </a:rPr>
              <a:t>단계별로 생각해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518" y="3909059"/>
            <a:ext cx="3413674" cy="822959"/>
          </a:xfrm>
          <a:prstGeom prst="round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 i="0">
                <a:solidFill>
                  <a:srgbClr val="C2410C"/>
                </a:solidFill>
                <a:latin typeface="Pretendard"/>
              </a:rPr>
              <a:t>모르면 모른다고 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01" y="589788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1" i="0">
                <a:solidFill>
                  <a:srgbClr val="FF4D30"/>
                </a:solidFill>
                <a:latin typeface="Pretendard"/>
              </a:rPr>
              <a:t>예시 하나만 붙여도 결과가 다릅니다 — 뒤 30분에 직접 보여드립니다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M1 ·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10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M1 원리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UX → AX — 챗봇을 넘어 보조 인력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내가 매 단계 누른다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질문 → 답, 또 질문 → 답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챗봇 / 계산기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68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‘이 일 끝까지 가져와 줘’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AI가 찾고·모으고·정리해 초안까지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일을 끝까지 맡기는 보조 인력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4889" y="1645919"/>
            <a:ext cx="0" cy="4114801"/>
          </a:xfrm>
          <a:prstGeom prst="line">
            <a:avLst/>
          </a:prstGeom>
          <a:ln w="12700">
            <a:solidFill>
              <a:srgbClr val="E5E5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30096" y="3429000"/>
            <a:ext cx="731502" cy="0"/>
          </a:xfrm>
          <a:prstGeom prst="line">
            <a:avLst/>
          </a:prstGeom>
          <a:ln w="25400">
            <a:solidFill>
              <a:srgbClr val="FF4D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F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4D30"/>
                </a:solidFill>
                <a:latin typeface="Pretendard"/>
              </a:rPr>
              <a:t>챗봇이 아니라, 일을 끝까지 가져와 주는 보조 인력을 두는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M3 · UX → AX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11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M3 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하네스 — 실행 틀 + 고삐 2개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2057400"/>
            <a:ext cx="10241023" cy="3429000"/>
          </a:xfrm>
          <a:prstGeom prst="rect">
            <a:avLst/>
          </a:prstGeom>
          <a:noFill/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/>
            <a:r>
              <a:rPr sz="1300" b="1" i="0">
                <a:solidFill>
                  <a:srgbClr val="6B7280"/>
                </a:solidFill>
                <a:latin typeface="Pretendard"/>
              </a:rPr>
              <a:t>HARNESS — 에이전트가 돌아가는 실행 틀 (도구·가드레일 포함)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03" y="2880360"/>
            <a:ext cx="4389010" cy="2057400"/>
          </a:xfrm>
          <a:prstGeom prst="rect">
            <a:avLst/>
          </a:prstGeom>
          <a:solidFill>
            <a:srgbClr val="FFF1ED"/>
          </a:solidFill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100" b="1" i="0">
                <a:solidFill>
                  <a:srgbClr val="FF4D30"/>
                </a:solidFill>
                <a:latin typeface="Pretendard"/>
              </a:rPr>
              <a:t>고삐 1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CLAUDE.md</a:t>
            </a:r>
          </a:p>
          <a:p>
            <a:pPr algn="l"/>
            <a:r>
              <a:rPr sz="1400" b="0" i="0">
                <a:solidFill>
                  <a:srgbClr val="4A4A4A"/>
                </a:solidFill>
                <a:latin typeface="Pretendard"/>
              </a:rPr>
              <a:t>업무지시서 — 역할·출력 순서·말투·‘근거 없으면 인용 마’, 파일 하나로 내 기준 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81" y="2880360"/>
            <a:ext cx="4389010" cy="2057400"/>
          </a:xfrm>
          <a:prstGeom prst="rect">
            <a:avLst/>
          </a:prstGeom>
          <a:solidFill>
            <a:srgbClr val="FFF1ED"/>
          </a:solidFill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100" b="1" i="0">
                <a:solidFill>
                  <a:srgbClr val="FF4D30"/>
                </a:solidFill>
                <a:latin typeface="Pretendard"/>
              </a:rPr>
              <a:t>고삐 2</a:t>
            </a:r>
          </a:p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Skill</a:t>
            </a:r>
          </a:p>
          <a:p>
            <a:pPr algn="l"/>
            <a:r>
              <a:rPr sz="1400" b="0" i="0">
                <a:solidFill>
                  <a:srgbClr val="4A4A4A"/>
                </a:solidFill>
                <a:latin typeface="Pretendard"/>
              </a:rPr>
              <a:t>절차 매뉴얼 — 반복 업무를 명령 한 줄로 재사용 (예: /세법질의 제7조)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03" y="5074920"/>
            <a:ext cx="9265688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이런 것도 있다 — 서브에이전트(역할 분담) · MCP(더존·홈택스 연결)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589788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Pretendard"/>
              </a:rPr>
              <a:t>이 두 고삐를 뒤 30분에 제가 직접 만들어 보여드립니다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M3 · HARNESS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12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M3 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회계 분업선 — 기계 자리 vs 회계사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AX가 가져갈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수임처별 대사(tie-out)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월결산 마감 진척 수집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조회서 PDF 처리·집계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조서 템플릿 채움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80"/>
                </a:solidFill>
                <a:latin typeface="Pretendard"/>
              </a:rPr>
              <a:t>규칙은 있되 매번 손으로 엮어야 하는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68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회계사가 가져갈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판단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의심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결론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4D30"/>
                </a:solidFill>
                <a:latin typeface="Pretendard"/>
              </a:rPr>
              <a:t>서명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Pretendard"/>
              </a:rPr>
              <a:t>→ 이건 옮기지 않습니다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4889" y="1645919"/>
            <a:ext cx="0" cy="4114801"/>
          </a:xfrm>
          <a:prstGeom prst="line">
            <a:avLst/>
          </a:prstGeom>
          <a:ln w="12700">
            <a:solidFill>
              <a:srgbClr val="E5E5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F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4D30"/>
                </a:solidFill>
                <a:latin typeface="Pretendard"/>
              </a:rPr>
              <a:t>최종 책임은 서명 회계사 — 회계사 자리는 사라지지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M3 · DIVISION OF LABOR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13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M3 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Pretendard"/>
              </a:rPr>
              <a:t>이 고삐를 세팅하면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  <a:ln w="1905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2918" bIns="3291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1508760"/>
            <a:ext cx="6827349" cy="4251960"/>
          </a:xfrm>
          <a:prstGeom prst="rect">
            <a:avLst/>
          </a:prstGeom>
          <a:noFill/>
        </p:spPr>
        <p:txBody>
          <a:bodyPr wrap="square" lIns="54864" rIns="54864" tIns="32918" bIns="32918" anchor="ctr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〔 캡처 이미지 삽입 예정 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684" y="1645919"/>
            <a:ext cx="3657508" cy="384048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세법 질의 Skill로 포맷팅된 결과(더미)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반복 업무가 명령 한 줄로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Pretendard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2410C"/>
                </a:solidFill>
                <a:latin typeface="Pretendard"/>
              </a:rPr>
              <a:t>※ 감사 본류(위험평가·조서)는 미구축 — 본 캡처는 원천세/세법질의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Pretendard"/>
              </a:rPr>
              <a:t>직접 만드는 건 뒤 30분에 보여드립니다.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M3 · OUTPUT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14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M3 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보안 — ‘접어두고’가 아니라 ‘푼 방식’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440180"/>
            <a:ext cx="10728691" cy="205739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Pretendard"/>
              </a:rPr>
              <a:t>다시, 말로만 숫자·사실은 틀리니까 → 숫자는 코드, 사실은 검색에 (환각 방지)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01" y="1783080"/>
            <a:ext cx="10728691" cy="1508760"/>
          </a:xfrm>
          <a:prstGeom prst="rect">
            <a:avLst/>
          </a:prstGeom>
          <a:solidFill>
            <a:srgbClr val="FFF1ED"/>
          </a:solidFill>
          <a:ln w="12700">
            <a:solidFill>
              <a:srgbClr val="FF4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4D30"/>
                </a:solidFill>
                <a:latin typeface="Pretendard"/>
              </a:rPr>
              <a:t>한 줄 뼈대: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숫자·계산은 전부 로컬 코드(밖으로 안 나감) · AI엔 비식별 최소 정보 · 더 민감하면 사내 로컬 모델 + 무보존(무학습·무저장)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3566160"/>
            <a:ext cx="1072869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Pretendard"/>
              </a:rPr>
              <a:t>피해갈 수 없는 3종 — 별도 정보보안·컴플라이언스 검토 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3909059"/>
            <a:ext cx="3413674" cy="1714500"/>
          </a:xfrm>
          <a:prstGeom prst="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C2410C"/>
                </a:solidFill>
                <a:latin typeface="Pretendard"/>
              </a:rPr>
              <a:t>①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재식별 위험 — 사업자번호+금액+귀속월이면 식별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010" y="3909059"/>
            <a:ext cx="3413674" cy="1714500"/>
          </a:xfrm>
          <a:prstGeom prst="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C2410C"/>
                </a:solidFill>
                <a:latin typeface="Pretendard"/>
              </a:rPr>
              <a:t>②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미공시정보 — 상장·코스닥 수감회사 결산 자료는 로컬 강제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518" y="3909059"/>
            <a:ext cx="3413674" cy="1714500"/>
          </a:xfrm>
          <a:prstGeom prst="rect">
            <a:avLst/>
          </a:prstGeom>
          <a:solidFill>
            <a:srgbClr val="FBEEE9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C2410C"/>
                </a:solidFill>
                <a:latin typeface="Pretendard"/>
              </a:rPr>
              <a:t>③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A4A4A"/>
                </a:solidFill>
                <a:latin typeface="Pretendard"/>
              </a:rPr>
              <a:t>감리·증적 보존 — AI 산출물도 감사증적으로 보존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M4 ·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15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M4 신뢰·책임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기계 vs 사람 + 책임소재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4A4A4A"/>
                </a:solidFill>
                <a:latin typeface="Pretendard"/>
              </a:rPr>
              <a:t>취합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4A4A4A"/>
                </a:solidFill>
                <a:latin typeface="Pretendard"/>
              </a:rPr>
              <a:t>정리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4A4A4A"/>
                </a:solidFill>
                <a:latin typeface="Pretendard"/>
              </a:rPr>
              <a:t>초안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681" y="1577340"/>
            <a:ext cx="5120511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FF4D30"/>
                </a:solidFill>
                <a:latin typeface="Pretendard"/>
              </a:rPr>
              <a:t>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1" y="1988819"/>
            <a:ext cx="5120511" cy="3703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판단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A1A1A"/>
                </a:solidFill>
                <a:latin typeface="Pretendard"/>
              </a:rPr>
              <a:t>의심 · 결론</a:t>
            </a:r>
          </a:p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4D30"/>
                </a:solidFill>
                <a:latin typeface="Pretendard"/>
              </a:rPr>
              <a:t>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4889" y="1645919"/>
            <a:ext cx="0" cy="4114801"/>
          </a:xfrm>
          <a:prstGeom prst="line">
            <a:avLst/>
          </a:prstGeom>
          <a:ln w="12700">
            <a:solidFill>
              <a:srgbClr val="E5E5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01" y="5897880"/>
            <a:ext cx="10728691" cy="342900"/>
          </a:xfrm>
          <a:prstGeom prst="rect">
            <a:avLst/>
          </a:prstGeom>
          <a:solidFill>
            <a:srgbClr val="FF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4D30"/>
                </a:solidFill>
                <a:latin typeface="Pretendard"/>
              </a:rPr>
              <a:t>AI 산출물의 최종 책임은 서명한 회계사 — 회계사의 자리가 사라지지 않습니다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M4 · MACHINE vs HUMAN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16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M4 신뢰·책임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01" y="6206490"/>
            <a:ext cx="10728691" cy="205739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쓰는 동료와 안 쓰는 동료의 격차가 1~2년 안에 벌어집니다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891540"/>
            <a:ext cx="9753356" cy="34290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Pretendard"/>
              </a:rPr>
              <a:t>개념은 여기까지, 이제 Claude Code를 켭니다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783080"/>
            <a:ext cx="3047923" cy="617219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6B7280"/>
                </a:solidFill>
                <a:latin typeface="Pretendard"/>
              </a:rPr>
              <a:t>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1342" y="1783080"/>
            <a:ext cx="1584920" cy="617219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6B7280"/>
                </a:solidFill>
                <a:latin typeface="Pretendard"/>
              </a:rPr>
              <a:t>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179" y="1783080"/>
            <a:ext cx="7193100" cy="617219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6B7280"/>
                </a:solidFill>
                <a:latin typeface="Pretendard"/>
              </a:rPr>
              <a:t>무엇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2400300"/>
            <a:ext cx="3047923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비트① 환각→정정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342" y="2400300"/>
            <a:ext cx="1584920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7분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8179" y="2400300"/>
            <a:ext cx="7193100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캡처 환각을 Claude Code 안에서 라이브 재현, 4요소+3강화로 정정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01" y="3017520"/>
            <a:ext cx="3047923" cy="617219"/>
          </a:xfrm>
          <a:prstGeom prst="rect">
            <a:avLst/>
          </a:prstGeom>
          <a:solidFill>
            <a:srgbClr val="FFF1ED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1" i="0">
                <a:solidFill>
                  <a:srgbClr val="1A1A1A"/>
                </a:solidFill>
                <a:latin typeface="Pretendard"/>
              </a:rPr>
              <a:t>★ 비트② CLAUDE.md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1342" y="3017520"/>
            <a:ext cx="1584920" cy="617219"/>
          </a:xfrm>
          <a:prstGeom prst="rect">
            <a:avLst/>
          </a:prstGeom>
          <a:solidFill>
            <a:srgbClr val="FFF1ED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1" i="0">
                <a:solidFill>
                  <a:srgbClr val="1A1A1A"/>
                </a:solidFill>
                <a:latin typeface="Pretendard"/>
              </a:rPr>
              <a:t>10분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8179" y="3017520"/>
            <a:ext cx="7193100" cy="617219"/>
          </a:xfrm>
          <a:prstGeom prst="rect">
            <a:avLst/>
          </a:prstGeom>
          <a:solidFill>
            <a:srgbClr val="FFF1ED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1" i="0">
                <a:solidFill>
                  <a:srgbClr val="1A1A1A"/>
                </a:solidFill>
                <a:latin typeface="Pretendard"/>
              </a:rPr>
              <a:t>빈 파일에 업무지시서 한 장 → 내 기준·말투로 답 + 폰 따라하기 (결정적 한 장면)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01" y="3634740"/>
            <a:ext cx="3047923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비트③ Skill 실행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1342" y="3634740"/>
            <a:ext cx="1584920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4분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8179" y="3634740"/>
            <a:ext cx="7193100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 i="0">
                <a:solidFill>
                  <a:srgbClr val="4A4A4A"/>
                </a:solidFill>
                <a:latin typeface="Pretendard"/>
              </a:rPr>
              <a:t>/세법질의 제7조 한 줄 → 4단 포맷 (만드는 법은 유료)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01" y="6035040"/>
            <a:ext cx="10728691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retendard"/>
              </a:rPr>
              <a:t>그리고 뒤이어 1시간 — 완성된 회계 감사 시스템(위험평가·조서·정산표)을 돌려보여드립니다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01" y="308609"/>
            <a:ext cx="170683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retendard"/>
              </a:rPr>
              <a:t>원론</a:t>
            </a:r>
            <a:r>
              <a:rPr sz="1300" b="1" i="0">
                <a:solidFill>
                  <a:srgbClr val="FF4D30"/>
                </a:solidFill>
                <a:latin typeface="Pretendar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1183" y="308609"/>
            <a:ext cx="4389010" cy="24003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r"/>
            <a:r>
              <a:rPr sz="1300" b="1" i="0">
                <a:solidFill>
                  <a:srgbClr val="FF4D30"/>
                </a:solidFill>
                <a:latin typeface="Pretendard"/>
              </a:rPr>
              <a:t>ENTER · LIVE DEMO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01" y="685800"/>
            <a:ext cx="1072869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01" y="6377940"/>
            <a:ext cx="6095847" cy="274320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17 / 17</a:t>
            </a:r>
            <a:r>
              <a:rPr sz="1100" b="0" i="0">
                <a:solidFill>
                  <a:srgbClr val="6B7280"/>
                </a:solidFill>
                <a:latin typeface="Pretendard"/>
              </a:rPr>
              <a:t>   ·   후반부 진입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